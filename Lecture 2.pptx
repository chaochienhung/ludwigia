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0"/>
  </p:notesMasterIdLst>
  <p:handoutMasterIdLst>
    <p:handoutMasterId r:id="rId31"/>
  </p:handoutMasterIdLst>
  <p:sldIdLst>
    <p:sldId id="474" r:id="rId2"/>
    <p:sldId id="371" r:id="rId3"/>
    <p:sldId id="496" r:id="rId4"/>
    <p:sldId id="497" r:id="rId5"/>
    <p:sldId id="498" r:id="rId6"/>
    <p:sldId id="499" r:id="rId7"/>
    <p:sldId id="500" r:id="rId8"/>
    <p:sldId id="501" r:id="rId9"/>
    <p:sldId id="544" r:id="rId10"/>
    <p:sldId id="545" r:id="rId11"/>
    <p:sldId id="546" r:id="rId12"/>
    <p:sldId id="502" r:id="rId13"/>
    <p:sldId id="503" r:id="rId14"/>
    <p:sldId id="504" r:id="rId15"/>
    <p:sldId id="550" r:id="rId16"/>
    <p:sldId id="475" r:id="rId17"/>
    <p:sldId id="535" r:id="rId18"/>
    <p:sldId id="543" r:id="rId19"/>
    <p:sldId id="536" r:id="rId20"/>
    <p:sldId id="537" r:id="rId21"/>
    <p:sldId id="538" r:id="rId22"/>
    <p:sldId id="539" r:id="rId23"/>
    <p:sldId id="540" r:id="rId24"/>
    <p:sldId id="541" r:id="rId25"/>
    <p:sldId id="547" r:id="rId26"/>
    <p:sldId id="548" r:id="rId27"/>
    <p:sldId id="549" r:id="rId28"/>
    <p:sldId id="542" r:id="rId29"/>
  </p:sldIdLst>
  <p:sldSz cx="12192000" cy="6858000"/>
  <p:notesSz cx="7315200" cy="9601200"/>
  <p:custDataLst>
    <p:tags r:id="rId32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80"/>
    <a:srgbClr val="FFCCCC"/>
    <a:srgbClr val="FF9999"/>
    <a:srgbClr val="008A87"/>
    <a:srgbClr val="FF9900"/>
    <a:srgbClr val="CCFF66"/>
    <a:srgbClr val="FFFF6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9"/>
    <p:restoredTop sz="92161" autoAdjust="0"/>
  </p:normalViewPr>
  <p:slideViewPr>
    <p:cSldViewPr>
      <p:cViewPr varScale="1">
        <p:scale>
          <a:sx n="73" d="100"/>
          <a:sy n="73" d="100"/>
        </p:scale>
        <p:origin x="151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788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FA13D176-3A9C-4760-8E4B-FF1E7C21CA43}" type="datetime1">
              <a:rPr lang="en-US" altLang="en-US" smtClean="0"/>
              <a:t>8/20/26</a:t>
            </a:fld>
            <a:endParaRPr lang="en-US" altLang="en-US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D038DFF3-B342-422B-A83E-54930FD683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87EB85A-D139-4BFA-A103-38E5540DBACB}" type="datetime1">
              <a:rPr lang="en-US" altLang="en-US" smtClean="0"/>
              <a:t>8/20/26</a:t>
            </a:fld>
            <a:endParaRPr lang="en-US" alt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3F81B6B-C6A4-4410-892D-4E6BB3B6EA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6B39-02BB-BA45-8829-DC48A9994A85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EDC3EC4E-4E44-453A-BB2C-112EA10C886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85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E6D6-E2AE-C647-AA3A-4E1769023F00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02038B22-43BB-41FC-9352-B54ACC5EC8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51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9ED4-03E3-E04F-8F1B-07D08AB26BF7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DFBB0D1D-CF3C-450A-BDFF-1E1D1E23B5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76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0A12-1D4A-8148-897A-80044773434D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56184787-FB20-4A0D-8763-381B3B924CD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565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61AA8-1CC7-BF4D-82CB-A10530924AA5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41FF502D-058A-4925-9F5A-BD8967C627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64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4AFEF-5DFB-9745-8518-7CDC44BC033B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77BE8FE1-C67E-4E27-97BA-CDC6A7A4B01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84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D6B6-F7D6-5A47-B7AC-22D266BAFFC3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07ADEBB6-7B44-407D-BC2D-538F5FD3FBA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29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E391-7A76-5E49-B638-C904F84090B7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C7588E04-7963-40BB-B6F3-680F815828F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21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1448-F16A-4B47-BC53-C836AA261171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2251A358-0598-4E88-A818-E40D723F5AF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3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9421E-1537-2347-9F66-EF1476FD608A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575A7A1E-B30D-4D0D-B99A-23382EEFFA3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46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8E69-FD19-4849-B31F-C28050EB9F5C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44F3BBAB-81BB-45FD-9C03-CA2F799DFF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00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890E6-8347-2241-ADB1-29B575BB8616}" type="datetime1">
              <a:rPr lang="en-SG" altLang="en-US" smtClean="0"/>
              <a:t>20/8/26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/>
              <a:t>L13.</a:t>
            </a:r>
            <a:fld id="{41457C13-B894-4AF4-944F-1C74DA049BF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6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E94E-7612-4CEF-753C-DCD534BE9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214438"/>
            <a:ext cx="9601200" cy="2387600"/>
          </a:xfrm>
        </p:spPr>
        <p:txBody>
          <a:bodyPr>
            <a:normAutofit/>
          </a:bodyPr>
          <a:lstStyle/>
          <a:p>
            <a:r>
              <a:rPr lang="en-US"/>
              <a:t>Query Algorithm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7B3A5-E1E0-81FB-042B-123204FFC5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SG" dirty="0"/>
              <a:t>CS 5234</a:t>
            </a:r>
          </a:p>
          <a:p>
            <a:r>
              <a:rPr lang="en-SG" dirty="0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117632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CD746-6195-C40E-707B-F34FA55A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9CC00-0E9D-50C9-69B3-0A2E7135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Query Algorithm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692E1-89D4-E37F-4120-F94479209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We don’t have the time to read the whole data.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We read </a:t>
            </a:r>
            <a:r>
              <a:rPr kumimoji="1" lang="en-US" altLang="zh-CN" dirty="0">
                <a:solidFill>
                  <a:schemeClr val="accent5"/>
                </a:solidFill>
              </a:rPr>
              <a:t>a small part </a:t>
            </a:r>
            <a:r>
              <a:rPr kumimoji="1" lang="en-US" altLang="zh-CN" dirty="0"/>
              <a:t>of the data.</a:t>
            </a:r>
          </a:p>
          <a:p>
            <a:pPr lvl="1"/>
            <a:r>
              <a:rPr lang="zh-SG" altLang="zh-SG" dirty="0"/>
              <a:t>Estimate a </a:t>
            </a:r>
            <a:r>
              <a:rPr lang="zh-SG" altLang="zh-SG" dirty="0">
                <a:solidFill>
                  <a:srgbClr val="0070C0"/>
                </a:solidFill>
              </a:rPr>
              <a:t>statistic</a:t>
            </a:r>
            <a:r>
              <a:rPr lang="zh-SG" altLang="zh-SG" dirty="0"/>
              <a:t> of the data.</a:t>
            </a:r>
            <a:endParaRPr lang="en-US" altLang="zh-SG" dirty="0"/>
          </a:p>
          <a:p>
            <a:pPr lvl="1"/>
            <a:r>
              <a:rPr kumimoji="1" lang="en-US" altLang="zh-CN" dirty="0"/>
              <a:t>E.g., Number of one type of element.</a:t>
            </a:r>
            <a:endParaRPr kumimoji="1" lang="zh-CN" altLang="en-US" dirty="0"/>
          </a:p>
          <a:p>
            <a:pPr lvl="1"/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>
                <a:ea typeface="Cambria Math" panose="02040503050406030204" pitchFamily="18" charset="0"/>
              </a:rPr>
              <a:t>The algorithm accesses a </a:t>
            </a:r>
            <a:r>
              <a:rPr kumimoji="1" lang="en-US" altLang="zh-CN" dirty="0">
                <a:solidFill>
                  <a:schemeClr val="accent5"/>
                </a:solidFill>
                <a:ea typeface="Cambria Math" panose="02040503050406030204" pitchFamily="18" charset="0"/>
              </a:rPr>
              <a:t>small amount </a:t>
            </a:r>
            <a:r>
              <a:rPr kumimoji="1" lang="en-US" altLang="zh-CN" dirty="0">
                <a:ea typeface="Cambria Math" panose="02040503050406030204" pitchFamily="18" charset="0"/>
              </a:rPr>
              <a:t>of input.</a:t>
            </a:r>
          </a:p>
          <a:p>
            <a:pPr lvl="1"/>
            <a:r>
              <a:rPr kumimoji="1" lang="en-US" altLang="zh-CN" dirty="0">
                <a:ea typeface="Cambria Math" panose="02040503050406030204" pitchFamily="18" charset="0"/>
              </a:rPr>
              <a:t>Output based on the </a:t>
            </a:r>
            <a:r>
              <a:rPr kumimoji="1" lang="en-US" altLang="zh-CN" dirty="0">
                <a:solidFill>
                  <a:schemeClr val="accent5"/>
                </a:solidFill>
                <a:ea typeface="Cambria Math" panose="02040503050406030204" pitchFamily="18" charset="0"/>
              </a:rPr>
              <a:t>limited information </a:t>
            </a:r>
            <a:r>
              <a:rPr kumimoji="1" lang="en-US" altLang="zh-CN" dirty="0">
                <a:ea typeface="Cambria Math" panose="02040503050406030204" pitchFamily="18" charset="0"/>
              </a:rPr>
              <a:t>we learn.</a:t>
            </a:r>
          </a:p>
          <a:p>
            <a:endParaRPr kumimoji="1"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DB3683-A597-A27F-521B-2B518FB19D78}"/>
              </a:ext>
            </a:extLst>
          </p:cNvPr>
          <p:cNvGrpSpPr/>
          <p:nvPr/>
        </p:nvGrpSpPr>
        <p:grpSpPr>
          <a:xfrm>
            <a:off x="8511617" y="2778473"/>
            <a:ext cx="2842183" cy="2551002"/>
            <a:chOff x="8511617" y="2778473"/>
            <a:chExt cx="2842183" cy="2551002"/>
          </a:xfrm>
        </p:grpSpPr>
        <p:pic>
          <p:nvPicPr>
            <p:cNvPr id="4" name="图片 3" descr="图标&#10;&#10;描述已自动生成">
              <a:extLst>
                <a:ext uri="{FF2B5EF4-FFF2-40B4-BE49-F238E27FC236}">
                  <a16:creationId xmlns:a16="http://schemas.microsoft.com/office/drawing/2014/main" id="{F65E9755-4E0E-4566-D3A0-958E1A316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4793" y="3914333"/>
              <a:ext cx="1415142" cy="1415142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EDA1BD7-8E29-4831-EBBE-512ADBE0B4D0}"/>
                </a:ext>
              </a:extLst>
            </p:cNvPr>
            <p:cNvGrpSpPr/>
            <p:nvPr/>
          </p:nvGrpSpPr>
          <p:grpSpPr>
            <a:xfrm>
              <a:off x="8511617" y="2778473"/>
              <a:ext cx="2842183" cy="348344"/>
              <a:chOff x="838201" y="2111826"/>
              <a:chExt cx="3646713" cy="348344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1CCF27-34D9-D7BE-4964-8DA474E61B61}"/>
                  </a:ext>
                </a:extLst>
              </p:cNvPr>
              <p:cNvSpPr/>
              <p:nvPr/>
            </p:nvSpPr>
            <p:spPr>
              <a:xfrm>
                <a:off x="838201" y="2111829"/>
                <a:ext cx="3646713" cy="3374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7" name="直线连接符 6">
                <a:extLst>
                  <a:ext uri="{FF2B5EF4-FFF2-40B4-BE49-F238E27FC236}">
                    <a16:creationId xmlns:a16="http://schemas.microsoft.com/office/drawing/2014/main" id="{54725B6B-AFF1-8A01-546C-B95424E5A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D1E2D9F7-601D-10C7-0515-1E21A032C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F8DE809D-6313-0198-C7E6-9F011DCB0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92C3602A-3DEA-CD75-BC24-7398876992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1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33D07634-8C0C-B544-4890-8414E733B4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5230" y="2111827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72343096-99CA-653F-E501-088BD98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3572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6AE15CC6-8C9E-F77A-0502-A21AB0563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3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B07A2CC-82E8-3226-6DB2-2E125AE2A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572" y="2111826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A0B99242-5CB2-1E4B-202F-16BD722FA0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63644FB5-20CC-8C2F-98B9-2F65CF94A0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7930" y="3339843"/>
              <a:ext cx="205191" cy="792205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066FA08D-ED9F-20F2-FAFB-C74F933B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21529" y="3302969"/>
              <a:ext cx="224972" cy="829079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B9DF2F9C-5C0D-8311-27F3-56060B372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1792" y="3370047"/>
              <a:ext cx="563795" cy="685801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64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DCFE-C4E7-8C24-B9C6-D69AE6DC1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1EB58-6F75-850E-95E1-1B85EA829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751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Initially, we don’t know the input.</a:t>
                </a:r>
              </a:p>
              <a:p>
                <a:endParaRPr lang="en-US" dirty="0"/>
              </a:p>
              <a:p>
                <a:r>
                  <a:rPr lang="zh-SG" altLang="zh-SG" dirty="0"/>
                  <a:t>We access the input through an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oracle</a:t>
                </a:r>
                <a:r>
                  <a:rPr lang="zh-SG" altLang="zh-SG" dirty="0"/>
                  <a:t>.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What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number in a list?</a:t>
                </a:r>
              </a:p>
              <a:p>
                <a:pPr lvl="1"/>
                <a:r>
                  <a:rPr lang="en-US" dirty="0"/>
                  <a:t>Is there an edge between the vertices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r>
                  <a:rPr lang="zh-SG" altLang="zh-SG" dirty="0">
                    <a:solidFill>
                      <a:srgbClr val="0070C0"/>
                    </a:solidFill>
                  </a:rPr>
                  <a:t>Query complexity </a:t>
                </a:r>
                <a:r>
                  <a:rPr lang="zh-SG" altLang="zh-SG" dirty="0"/>
                  <a:t>is the number of oracle queries made by the algorithm.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1EB58-6F75-850E-95E1-1B85EA829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75175"/>
              </a:xfrm>
              <a:blipFill>
                <a:blip r:embed="rId2"/>
                <a:stretch>
                  <a:fillRect l="-1086" t="-2210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5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5881-A6CE-CD6C-6BE8-981392BA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Counting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53894D-A2F9-C822-C3B8-9D165A9EB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binary string.</a:t>
                </a:r>
              </a:p>
              <a:p>
                <a:r>
                  <a:rPr lang="en-US" dirty="0"/>
                  <a:t>Output: number of </a:t>
                </a:r>
                <a:r>
                  <a:rPr lang="en-US" dirty="0">
                    <a:solidFill>
                      <a:srgbClr val="00B050"/>
                    </a:solidFill>
                  </a:rPr>
                  <a:t>1</a:t>
                </a:r>
                <a:r>
                  <a:rPr lang="en-US" dirty="0"/>
                  <a:t>s.</a:t>
                </a:r>
              </a:p>
              <a:p>
                <a:endParaRPr lang="en-US" dirty="0"/>
              </a:p>
              <a:p>
                <a:r>
                  <a:rPr lang="en-US" dirty="0"/>
                  <a:t>We can query all bits, then count the number of </a:t>
                </a:r>
                <a:r>
                  <a:rPr lang="en-US" dirty="0">
                    <a:solidFill>
                      <a:srgbClr val="00B050"/>
                    </a:solidFill>
                  </a:rPr>
                  <a:t>1</a:t>
                </a:r>
                <a:r>
                  <a:rPr lang="en-US" dirty="0"/>
                  <a:t>s.</a:t>
                </a:r>
              </a:p>
              <a:p>
                <a:endParaRPr lang="en-US" dirty="0"/>
              </a:p>
              <a:p>
                <a:r>
                  <a:rPr lang="zh-SG" altLang="zh-SG" dirty="0"/>
                  <a:t>It appears that we cannot do better.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53894D-A2F9-C822-C3B8-9D165A9EB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51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D60FE-9692-92CC-AFD6-A845419F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E17A-4CF9-D482-D596-7C1DFBA8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Counting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3F04C3-4250-2045-A14E-9FD26D477E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binary string.</a:t>
                </a:r>
              </a:p>
              <a:p>
                <a:r>
                  <a:rPr lang="en-US" dirty="0"/>
                  <a:t>Output: an estimate of the number of </a:t>
                </a:r>
                <a:r>
                  <a:rPr lang="en-US" dirty="0">
                    <a:solidFill>
                      <a:srgbClr val="00B050"/>
                    </a:solidFill>
                  </a:rPr>
                  <a:t>1</a:t>
                </a:r>
                <a:r>
                  <a:rPr lang="en-US" dirty="0"/>
                  <a:t>s with an </a:t>
                </a:r>
                <a:r>
                  <a:rPr lang="en-US" dirty="0">
                    <a:solidFill>
                      <a:srgbClr val="0070C0"/>
                    </a:solidFill>
                  </a:rPr>
                  <a:t>additive error </a:t>
                </a:r>
                <a:r>
                  <a:rPr lang="en-US" dirty="0"/>
                  <a:t>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the true answer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any value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acceptable.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Algorithm:</a:t>
                </a:r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zh-SG" altLang="zh-SG" dirty="0"/>
                  <a:t>positions uniformly at random and query their bits.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zh-SG" altLang="zh-SG" dirty="0"/>
                  <a:t>sampled bits are </a:t>
                </a:r>
                <a:r>
                  <a:rPr lang="en-US" dirty="0">
                    <a:solidFill>
                      <a:srgbClr val="00B050"/>
                    </a:solidFill>
                  </a:rPr>
                  <a:t>1</a:t>
                </a:r>
                <a:r>
                  <a:rPr lang="en-US" dirty="0"/>
                  <a:t>,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3F04C3-4250-2045-A14E-9FD26D477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7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B5FB-45DE-B40F-450D-84C67674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262B6A-3091-4486-7257-A5248A0B6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be a random variable such that: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sampled bit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otherwise.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𝑘𝐴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262B6A-3091-4486-7257-A5248A0B6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12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A573A-5306-21A2-CF83-2D17C068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Chernoff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D2D27C-E4FE-1A45-B559-F242FF857B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be </a:t>
                </a:r>
                <a:r>
                  <a:rPr lang="en-US" dirty="0">
                    <a:solidFill>
                      <a:schemeClr val="accent5"/>
                    </a:solidFill>
                  </a:rPr>
                  <a:t>independent and</a:t>
                </a:r>
                <a:r>
                  <a:rPr lang="zh-CN" alt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>
                    <a:solidFill>
                      <a:schemeClr val="accent5"/>
                    </a:solidFill>
                  </a:rPr>
                  <a:t>identically </a:t>
                </a:r>
                <a:r>
                  <a:rPr lang="en-US" altLang="zh-CN" dirty="0">
                    <a:solidFill>
                      <a:schemeClr val="accent5"/>
                    </a:solidFill>
                  </a:rPr>
                  <a:t>distributed</a:t>
                </a:r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/>
                  <a:t>(</a:t>
                </a:r>
                <a:r>
                  <a:rPr lang="en-US" dirty="0" err="1"/>
                  <a:t>iid</a:t>
                </a:r>
                <a:r>
                  <a:rPr lang="en-US" dirty="0"/>
                  <a:t>) random variables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 Then for any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𝛿𝜇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 </a:t>
                </a: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𝛿𝜇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dirty="0"/>
                  <a:t>In our case,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𝑘𝐴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𝛿𝜇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 both cases,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the failure probability is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D2D27C-E4FE-1A45-B559-F242FF857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755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9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DEFA-BFDE-E278-BF2C-1BD6190B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Sampling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35F00-63D7-540A-7787-A262BCC89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the expected value of the output.</a:t>
            </a:r>
          </a:p>
          <a:p>
            <a:pPr lvl="1"/>
            <a:r>
              <a:rPr lang="zh-SG" altLang="zh-SG" dirty="0"/>
              <a:t>An estimator is </a:t>
            </a:r>
            <a:r>
              <a:rPr lang="zh-SG" altLang="zh-SG" dirty="0">
                <a:solidFill>
                  <a:srgbClr val="0070C0"/>
                </a:solidFill>
              </a:rPr>
              <a:t>unbiased</a:t>
            </a:r>
            <a:r>
              <a:rPr lang="zh-SG" altLang="zh-SG" dirty="0"/>
              <a:t> if its expectation equals the true value.</a:t>
            </a:r>
            <a:endParaRPr lang="en-US" altLang="zh-SG" dirty="0"/>
          </a:p>
          <a:p>
            <a:pPr lvl="1"/>
            <a:endParaRPr lang="en-US" dirty="0"/>
          </a:p>
          <a:p>
            <a:r>
              <a:rPr lang="en-US" dirty="0"/>
              <a:t>Show that the output is close to the expectation.</a:t>
            </a:r>
          </a:p>
          <a:p>
            <a:pPr lvl="1"/>
            <a:r>
              <a:rPr lang="zh-SG" altLang="zh-SG" dirty="0"/>
              <a:t>We usually use </a:t>
            </a:r>
            <a:r>
              <a:rPr lang="zh-SG" altLang="zh-SG" dirty="0">
                <a:solidFill>
                  <a:srgbClr val="0070C0"/>
                </a:solidFill>
              </a:rPr>
              <a:t>concentration inequalities</a:t>
            </a:r>
            <a:r>
              <a:rPr lang="zh-SG" altLang="zh-SG" dirty="0"/>
              <a:t> such as the </a:t>
            </a:r>
            <a:r>
              <a:rPr lang="zh-SG" altLang="zh-SG" dirty="0">
                <a:solidFill>
                  <a:srgbClr val="0070C0"/>
                </a:solidFill>
              </a:rPr>
              <a:t>Chernoff</a:t>
            </a:r>
            <a:r>
              <a:rPr lang="zh-SG" altLang="zh-SG" dirty="0"/>
              <a:t> and </a:t>
            </a:r>
            <a:r>
              <a:rPr lang="zh-SG" altLang="zh-SG" dirty="0">
                <a:solidFill>
                  <a:srgbClr val="0070C0"/>
                </a:solidFill>
              </a:rPr>
              <a:t>Chebyshev</a:t>
            </a:r>
            <a:r>
              <a:rPr lang="zh-SG" altLang="zh-SG" dirty="0"/>
              <a:t> bounds.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83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D59EF-506C-2A85-27C4-5FDC4571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dirty="0"/>
              <a:t>Median Approximation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8EFE0C-9AD4-A338-FDEC-6FA0686CB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SG" dirty="0"/>
                  <a:t>Input: Query access to an unsorted array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zh-SG" dirty="0"/>
                  <a:t>.</a:t>
                </a:r>
              </a:p>
              <a:p>
                <a:r>
                  <a:rPr kumimoji="1" lang="en-US" altLang="zh-SG" dirty="0"/>
                  <a:t>Output: A value whose rank lies between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SG" dirty="0"/>
                  <a:t>.</a:t>
                </a:r>
              </a:p>
              <a:p>
                <a:pPr lvl="1"/>
                <a:r>
                  <a:rPr lang="en-US" altLang="zh-SG" dirty="0"/>
                  <a:t>For convenience, suppose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&lt;0.1</m:t>
                    </m:r>
                  </m:oMath>
                </a14:m>
                <a:r>
                  <a:rPr lang="en-US" altLang="zh-SG" dirty="0"/>
                  <a:t>.</a:t>
                </a:r>
              </a:p>
              <a:p>
                <a:endParaRPr lang="en-US" altLang="zh-SG" dirty="0"/>
              </a:p>
              <a:p>
                <a:r>
                  <a:rPr lang="en-US" altLang="zh-SG" dirty="0"/>
                  <a:t>Algorithm:</a:t>
                </a:r>
              </a:p>
              <a:p>
                <a:pPr lvl="1"/>
                <a:r>
                  <a:rPr lang="en-US" altLang="zh-SG" dirty="0"/>
                  <a:t>Query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SG" dirty="0"/>
                  <a:t> </a:t>
                </a:r>
                <a:r>
                  <a:rPr lang="zh-SG" altLang="zh-SG" dirty="0"/>
                  <a:t>uniformly random array positions and output the sample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median</a:t>
                </a:r>
                <a:r>
                  <a:rPr lang="zh-SG" altLang="zh-SG" dirty="0"/>
                  <a:t>.</a:t>
                </a:r>
                <a:endParaRPr lang="en-US" altLang="zh-SG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8EFE0C-9AD4-A338-FDEC-6FA0686CB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32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3AF49-F671-3CAF-75F0-15840A61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dirty="0"/>
              <a:t>Analysis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E8743D-3EE8-A6A0-B7AD-78BE02835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2800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SG" dirty="0"/>
                  <a:t>When does the algorithm output the correct answer?</a:t>
                </a:r>
              </a:p>
              <a:p>
                <a:pPr lvl="1"/>
                <a:r>
                  <a:rPr kumimoji="1" lang="en-US" altLang="zh-SG" dirty="0"/>
                  <a:t>Fewer than</a:t>
                </a:r>
                <a:r>
                  <a:rPr lang="en-US" altLang="zh-SG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kumimoji="1" lang="en-US" altLang="zh-SG" dirty="0"/>
                  <a:t> sampled numbers have rank less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Fewer than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kumimoji="1" lang="en-US" altLang="zh-SG" dirty="0"/>
                  <a:t> sampled numbers have rank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endParaRPr kumimoji="1" lang="en-US" altLang="zh-SG" dirty="0"/>
              </a:p>
              <a:p>
                <a:r>
                  <a:rPr kumimoji="1" lang="en-US" altLang="zh-SG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zh-SG" dirty="0"/>
                  <a:t> be random variables such that</a:t>
                </a:r>
              </a:p>
              <a:p>
                <a:pPr lvl="1"/>
                <a:r>
                  <a:rPr lang="en-US" altLang="zh-SG" dirty="0"/>
                  <a:t>Set</a:t>
                </a:r>
                <a:r>
                  <a:rPr lang="en-US" altLang="zh-SG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SG" dirty="0"/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kumimoji="1" lang="en-US" altLang="zh-SG" dirty="0"/>
                  <a:t> sample has rank less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SG" dirty="0"/>
                  <a:t>;</a:t>
                </a:r>
              </a:p>
              <a:p>
                <a:pPr lvl="1"/>
                <a:r>
                  <a:rPr lang="en-US" altLang="zh-SG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SG" dirty="0"/>
                  <a:t> otherwise.</a:t>
                </a:r>
              </a:p>
              <a:p>
                <a:pPr lvl="1"/>
                <a:r>
                  <a:rPr kumimoji="1" lang="en-US" altLang="zh-SG" dirty="0"/>
                  <a:t>Let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The first condition is equivalent to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endParaRPr kumimoji="1" lang="en-US" altLang="zh-SG" dirty="0"/>
              </a:p>
              <a:p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E8743D-3EE8-A6A0-B7AD-78BE02835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2800" cy="4351338"/>
              </a:xfrm>
              <a:blipFill>
                <a:blip r:embed="rId2"/>
                <a:stretch>
                  <a:fillRect l="-1040" t="-2326" b="-29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06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982FF-36D8-9739-39CA-B20883C2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dirty="0"/>
              <a:t>Analysis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3E88E-011E-43B9-69AB-C5953BE81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zh-SG" dirty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SG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SG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SG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func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SG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SG" dirty="0"/>
                  <a:t>, </a:t>
                </a:r>
                <a14:m>
                  <m:oMath xmlns:m="http://schemas.openxmlformats.org/officeDocument/2006/math">
                    <m:r>
                      <a:rPr lang="en-US" altLang="zh-SG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SG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SG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func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altLang="zh-SG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SG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d>
                              <m:d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sup>
                    </m:sSup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endParaRPr kumimoji="1" lang="en-US" altLang="zh-SG" dirty="0"/>
              </a:p>
              <a:p>
                <a:pPr lvl="1"/>
                <a:endParaRPr kumimoji="1" lang="en-US" altLang="zh-SG" dirty="0"/>
              </a:p>
              <a:p>
                <a:r>
                  <a:rPr kumimoji="1" lang="en-US" altLang="zh-SG" dirty="0"/>
                  <a:t>When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&gt;100/</m:t>
                    </m:r>
                    <m:sSup>
                      <m:sSup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SG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SG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SG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func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&lt;0.1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The first condition holds with probability at least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By the same argument, the second condition also holds with probability at least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lang="zh-SG" altLang="zh-SG" dirty="0"/>
                  <a:t>By the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union bound</a:t>
                </a:r>
                <a:r>
                  <a:rPr lang="zh-SG" altLang="zh-SG" dirty="0"/>
                  <a:t>, the overall success probability is at least</a:t>
                </a:r>
                <a:r>
                  <a:rPr kumimoji="1" lang="en-US" altLang="zh-SG" dirty="0"/>
                  <a:t>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kumimoji="1" lang="en-US" altLang="zh-SG" dirty="0"/>
                  <a:t>.</a:t>
                </a:r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3E88E-011E-43B9-69AB-C5953BE81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453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0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FAF0-07B3-E569-EC1E-625C330F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F2E62-05AD-ED85-9AF8-AF0E2B04F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Suppose we have an </a:t>
                </a:r>
                <a:r>
                  <a:rPr lang="en-US" dirty="0">
                    <a:solidFill>
                      <a:srgbClr val="0070C0"/>
                    </a:solidFill>
                  </a:rPr>
                  <a:t>unbiased</a:t>
                </a:r>
                <a:r>
                  <a:rPr lang="en-US" dirty="0"/>
                  <a:t> estimation algorithm: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Run the algorithm independently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times,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Consider the </a:t>
                </a:r>
                <a:r>
                  <a:rPr lang="en-US" dirty="0">
                    <a:solidFill>
                      <a:srgbClr val="0070C0"/>
                    </a:solidFill>
                  </a:rPr>
                  <a:t>average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These runs are </a:t>
                </a:r>
                <a:r>
                  <a:rPr lang="en-US" dirty="0">
                    <a:solidFill>
                      <a:srgbClr val="0070C0"/>
                    </a:solidFill>
                  </a:rPr>
                  <a:t>independent</a:t>
                </a:r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zh-SG" altLang="zh-SG" dirty="0"/>
                  <a:t>Averaging independent runs of an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unbiased</a:t>
                </a:r>
                <a:r>
                  <a:rPr lang="zh-SG" altLang="zh-SG" dirty="0"/>
                  <a:t> estimator reduces its variance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F2E62-05AD-ED85-9AF8-AF0E2B04F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348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08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A3EB-8F62-67F0-DB14-492B22E7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F3A61-D6CB-74BC-A735-E981044E5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we have an estimation algorithm: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run the algorithm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times, obtaining estimates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be the number of </a:t>
                </a:r>
                <a:r>
                  <a:rPr lang="en-US" altLang="zh-SG" dirty="0"/>
                  <a:t>estimates</a:t>
                </a:r>
                <a:r>
                  <a:rPr lang="en-US" dirty="0"/>
                  <a:t> larger than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func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By the Chernoff Bound,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func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be the number of </a:t>
                </a:r>
                <a:r>
                  <a:rPr lang="en-US" altLang="zh-SG" dirty="0"/>
                  <a:t>estimates</a:t>
                </a:r>
                <a:r>
                  <a:rPr lang="en-US" dirty="0"/>
                  <a:t> smaller than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For the same reason,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func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F3A61-D6CB-74BC-A735-E981044E5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1453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5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39C5-1EB1-10CD-7CD0-0627B275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F0BD6-BE59-31A0-E16B-2B2523E09D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Suppose we have an estimation algorithm: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func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run the algorithm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times, obtaining </a:t>
                </a:r>
                <a:r>
                  <a:rPr lang="en-US" altLang="zh-SG" dirty="0"/>
                  <a:t>estimates</a:t>
                </a:r>
                <a:r>
                  <a:rPr lang="en-US" dirty="0"/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probability that at least half of the estimates are larger than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is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probability </a:t>
                </a:r>
                <a:r>
                  <a:rPr lang="en-US" altLang="zh-SG" dirty="0"/>
                  <a:t>that at least half of the estimates are </a:t>
                </a:r>
                <a:r>
                  <a:rPr lang="en-US" dirty="0"/>
                  <a:t>smaller than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is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/>
                  <a:t> be the </a:t>
                </a:r>
                <a:r>
                  <a:rPr lang="en-US" dirty="0">
                    <a:solidFill>
                      <a:srgbClr val="0070C0"/>
                    </a:solidFill>
                  </a:rPr>
                  <a:t>median</a:t>
                </a:r>
                <a:r>
                  <a:rPr lang="en-US" dirty="0"/>
                  <a:t> of these </a:t>
                </a:r>
                <a:r>
                  <a:rPr lang="en-US" altLang="zh-SG" dirty="0"/>
                  <a:t>estimates</a:t>
                </a:r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func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zh-SG" altLang="zh-SG" dirty="0"/>
                  <a:t>Given an estimator with success probability greater than </a:t>
                </a:r>
                <a14:m>
                  <m:oMath xmlns:m="http://schemas.openxmlformats.org/officeDocument/2006/math">
                    <m:r>
                      <a:rPr lang="en-US" altLang="zh-SG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zh-SG" altLang="zh-SG" dirty="0"/>
                  <a:t>, taking the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median</a:t>
                </a:r>
                <a:r>
                  <a:rPr lang="zh-SG" altLang="zh-SG" dirty="0"/>
                  <a:t> of independent repetitions makes the success probability arbitrarily close to </a:t>
                </a:r>
                <a14:m>
                  <m:oMath xmlns:m="http://schemas.openxmlformats.org/officeDocument/2006/math">
                    <m:r>
                      <a:rPr lang="en-US" altLang="zh-SG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SG" altLang="zh-SG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F0BD6-BE59-31A0-E16B-2B2523E09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616" b="-290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05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A25CB-B822-5E4C-7E30-6C878D52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046650-69A8-7611-AF10-6974C72E87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have an </a:t>
                </a:r>
                <a:r>
                  <a:rPr lang="en-US" dirty="0">
                    <a:solidFill>
                      <a:srgbClr val="0070C0"/>
                    </a:solidFill>
                  </a:rPr>
                  <a:t>unbiased</a:t>
                </a:r>
                <a:r>
                  <a:rPr lang="en-US" dirty="0"/>
                  <a:t> estimation algorithm: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if want to give an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such that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046650-69A8-7611-AF10-6974C72E87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513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B803-8EB1-C110-1E15-4CD3DA7E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Algorithm for Graphs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8557CB-FBFD-B405-E18A-C40FE2319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25200" cy="4803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Initially, we know all the vertices.</a:t>
                </a:r>
              </a:p>
              <a:p>
                <a:endParaRPr lang="en-US" dirty="0"/>
              </a:p>
              <a:p>
                <a:r>
                  <a:rPr lang="en-US" dirty="0"/>
                  <a:t>Adjacency-matrix model:</a:t>
                </a:r>
              </a:p>
              <a:p>
                <a:pPr lvl="1"/>
                <a:r>
                  <a:rPr lang="en-US" dirty="0"/>
                  <a:t>Pair Query: Given vertices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zh-SG" altLang="zh-SG" dirty="0"/>
                  <a:t>return whether they are adjacent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zh-SG" altLang="zh-SG" dirty="0"/>
                  <a:t>This model is typically</a:t>
                </a:r>
                <a:r>
                  <a:rPr lang="en-US" dirty="0"/>
                  <a:t> used in </a:t>
                </a:r>
                <a:r>
                  <a:rPr lang="en-US" dirty="0">
                    <a:solidFill>
                      <a:srgbClr val="0070C0"/>
                    </a:solidFill>
                  </a:rPr>
                  <a:t>dense</a:t>
                </a:r>
                <a:r>
                  <a:rPr lang="en-US" dirty="0"/>
                  <a:t> graphs.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Adjacency-list model:</a:t>
                </a:r>
              </a:p>
              <a:p>
                <a:pPr lvl="1"/>
                <a:r>
                  <a:rPr lang="en-US" dirty="0"/>
                  <a:t>Degree query: query a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return the degree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Neighbor Query: query a vertex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an index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return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zh-SG" altLang="zh-SG" dirty="0"/>
                  <a:t>This model is typically used </a:t>
                </a:r>
                <a:r>
                  <a:rPr lang="en-US" dirty="0"/>
                  <a:t>in </a:t>
                </a:r>
                <a:r>
                  <a:rPr lang="en-US" dirty="0">
                    <a:solidFill>
                      <a:srgbClr val="0070C0"/>
                    </a:solidFill>
                  </a:rPr>
                  <a:t>sparse</a:t>
                </a:r>
                <a:r>
                  <a:rPr lang="en-US" dirty="0"/>
                  <a:t> graphs.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8557CB-FBFD-B405-E18A-C40FE2319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25200" cy="4803775"/>
              </a:xfrm>
              <a:blipFill>
                <a:blip r:embed="rId2"/>
                <a:stretch>
                  <a:fillRect l="-1026" t="-211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11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2CF0-F0C3-C762-40D7-C80AD0BA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DFB193-CD25-1CD3-3729-E1CA720A5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6175"/>
              </a:xfrm>
            </p:spPr>
            <p:txBody>
              <a:bodyPr/>
              <a:lstStyle/>
              <a:p>
                <a:r>
                  <a:rPr lang="en-US" dirty="0"/>
                  <a:t>Input: An unweighted graph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Output: The number of edges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consider query algorithms.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degree queries are enough.</a:t>
                </a:r>
              </a:p>
              <a:p>
                <a:pPr lvl="1"/>
                <a:r>
                  <a:rPr lang="en-US" dirty="0"/>
                  <a:t>Can we do better?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DFB193-CD25-1CD3-3729-E1CA720A5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6175"/>
              </a:xfrm>
              <a:blipFill>
                <a:blip r:embed="rId2"/>
                <a:stretch>
                  <a:fillRect l="-1086" t="-204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0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2DF6B-65CB-32BA-BD98-2CE4D658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dirty="0"/>
              <a:t>Additive Error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DDE9F0-2B82-427B-78EA-E116288D4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SG" dirty="0"/>
                  <a:t>Input: An unweighted graph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SG" dirty="0"/>
                  <a:t>.</a:t>
                </a:r>
              </a:p>
              <a:p>
                <a:r>
                  <a:rPr lang="en-US" altLang="zh-SG" dirty="0"/>
                  <a:t>Output: The number of edges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SG" dirty="0"/>
                  <a:t>, allowing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SG" dirty="0"/>
                  <a:t> </a:t>
                </a:r>
                <a:r>
                  <a:rPr lang="en-US" altLang="zh-SG" dirty="0">
                    <a:solidFill>
                      <a:srgbClr val="0070C0"/>
                    </a:solidFill>
                  </a:rPr>
                  <a:t>additive error</a:t>
                </a:r>
                <a:r>
                  <a:rPr lang="en-US" altLang="zh-SG" dirty="0"/>
                  <a:t>.</a:t>
                </a:r>
              </a:p>
              <a:p>
                <a:endParaRPr lang="en-US" altLang="zh-SG" dirty="0"/>
              </a:p>
              <a:p>
                <a:r>
                  <a:rPr lang="en-US" altLang="zh-SG" dirty="0"/>
                  <a:t>Algorithm:</a:t>
                </a:r>
              </a:p>
              <a:p>
                <a:pPr lvl="1"/>
                <a:r>
                  <a:rPr lang="en-US" altLang="zh-SG" dirty="0"/>
                  <a:t>Sample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SG" dirty="0"/>
                  <a:t> </a:t>
                </a:r>
                <a:r>
                  <a:rPr lang="zh-SG" altLang="zh-SG" dirty="0"/>
                  <a:t>unordered vertex pairs </a:t>
                </a:r>
                <a:r>
                  <a:rPr lang="en-US" altLang="zh-SG" dirty="0"/>
                  <a:t>randomly, and query if there is an edge between them.</a:t>
                </a:r>
              </a:p>
              <a:p>
                <a:pPr lvl="1"/>
                <a:r>
                  <a:rPr lang="en-US" altLang="zh-SG" dirty="0"/>
                  <a:t>If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SG" dirty="0"/>
                  <a:t> </a:t>
                </a:r>
                <a:r>
                  <a:rPr lang="zh-SG" altLang="zh-SG" dirty="0"/>
                  <a:t>sampled pairs are edges</a:t>
                </a:r>
                <a:r>
                  <a:rPr lang="en-US" altLang="zh-SG" dirty="0"/>
                  <a:t>, output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SG" dirty="0"/>
                  <a:t>.</a:t>
                </a:r>
              </a:p>
              <a:p>
                <a:pPr lvl="1"/>
                <a:endParaRPr lang="en-US" altLang="zh-SG" dirty="0"/>
              </a:p>
              <a:p>
                <a:r>
                  <a:rPr lang="en-US" altLang="zh-SG" dirty="0"/>
                  <a:t>If we want </a:t>
                </a:r>
                <a:r>
                  <a:rPr lang="en-US" altLang="zh-SG" dirty="0">
                    <a:solidFill>
                      <a:srgbClr val="0070C0"/>
                    </a:solidFill>
                  </a:rPr>
                  <a:t>constant</a:t>
                </a:r>
                <a:r>
                  <a:rPr lang="en-US" altLang="zh-SG" dirty="0"/>
                  <a:t> success probability, what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SG" dirty="0"/>
                  <a:t> should we use?</a:t>
                </a:r>
              </a:p>
              <a:p>
                <a:pPr lvl="1"/>
                <a:r>
                  <a:rPr lang="en-US" altLang="zh-SG" dirty="0"/>
                  <a:t>What if we want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en-US" altLang="zh-SG" dirty="0"/>
                  <a:t> success probability?</a:t>
                </a:r>
              </a:p>
              <a:p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DDE9F0-2B82-427B-78EA-E116288D4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14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5940-AF48-0BF9-BE30-B10A9DD1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Multiplicative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BE8AF-4300-29B3-FCF6-F06D687B47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If the graph is </a:t>
                </a:r>
                <a:r>
                  <a:rPr lang="en-US" dirty="0">
                    <a:solidFill>
                      <a:srgbClr val="0070C0"/>
                    </a:solidFill>
                  </a:rPr>
                  <a:t>sparse</a:t>
                </a:r>
                <a:r>
                  <a:rPr lang="en-US" dirty="0"/>
                  <a:t>, the additive estimate is not that useful.</a:t>
                </a:r>
              </a:p>
              <a:p>
                <a:pPr lvl="1"/>
                <a:r>
                  <a:rPr lang="zh-SG" altLang="zh-SG" dirty="0"/>
                  <a:t>Can we obtain a more useful estimate when the number of edges is small?</a:t>
                </a:r>
                <a:endParaRPr lang="en-US" altLang="zh-SG" dirty="0"/>
              </a:p>
              <a:p>
                <a:pPr lvl="1"/>
                <a:endParaRPr lang="en-US" dirty="0"/>
              </a:p>
              <a:p>
                <a:r>
                  <a:rPr lang="en-US" dirty="0"/>
                  <a:t>Distinguishing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queries. </a:t>
                </a:r>
              </a:p>
              <a:p>
                <a:pPr lvl="1"/>
                <a:r>
                  <a:rPr lang="en-US" dirty="0"/>
                  <a:t>We cannot do better even allowing multiplicative error.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There is nothing we can do when the number of edges is very small.</a:t>
                </a:r>
              </a:p>
              <a:p>
                <a:pPr lvl="1"/>
                <a:r>
                  <a:rPr lang="en-US" dirty="0"/>
                  <a:t>Can we do better if we guarantee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connected?</a:t>
                </a:r>
              </a:p>
              <a:p>
                <a:endParaRPr lang="en-US" dirty="0"/>
              </a:p>
              <a:p>
                <a:r>
                  <a:rPr lang="zh-SG" altLang="zh-SG" dirty="0"/>
                  <a:t>There is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query algorithm that returns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dirty="0"/>
                  <a:t>-approximation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connected.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BE8AF-4300-29B3-FCF6-F06D687B4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b="-377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79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15C9-DBBB-2A07-5A37-B7DB8264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Multiplicative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581E0-AB31-B0C9-6432-7BA57B1C3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zh-SG" altLang="zh-SG" dirty="0"/>
                  <a:t>Thus, estimating</a:t>
                </a:r>
                <a:r>
                  <a:rPr lang="en-US" altLang="zh-SG" dirty="0"/>
                  <a:t>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</a:t>
                </a:r>
                <a:r>
                  <a:rPr lang="zh-SG" altLang="zh-SG" dirty="0"/>
                  <a:t>equivalent to estimating the </a:t>
                </a:r>
                <a:r>
                  <a:rPr lang="en-US" dirty="0"/>
                  <a:t>average degree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zh-SG" altLang="zh-SG" dirty="0"/>
                  <a:t>Sample a vertex</a:t>
                </a:r>
                <a:r>
                  <a:rPr lang="en-US" altLang="zh-SG" dirty="0"/>
                  <a:t>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SG" altLang="zh-SG" dirty="0"/>
                  <a:t> uniformly at random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need to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dirty="0"/>
                  <a:t> vertices.</a:t>
                </a:r>
              </a:p>
              <a:p>
                <a:pPr lvl="1"/>
                <a:r>
                  <a:rPr lang="zh-SG" altLang="zh-SG" dirty="0"/>
                  <a:t>This is too expensive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581E0-AB31-B0C9-6432-7BA57B1C3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191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1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AF25-6AAB-43EE-C57E-87C30638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Multiplicative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C7920-0A0E-3C79-8C19-8029015D36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SG" altLang="zh-SG" dirty="0"/>
                  <a:t>Label the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SG" altLang="zh-SG" dirty="0"/>
                  <a:t> and define a total order as follows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be the number of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How can we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C7920-0A0E-3C79-8C19-8029015D36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6" t="-319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89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82B6-936D-8CF3-3FFB-CF533542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Multiplicative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B345BE-E608-9C84-554C-FDD82E631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SG" altLang="zh-SG" dirty="0"/>
                  <a:t>Define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as follows:</a:t>
                </a:r>
              </a:p>
              <a:p>
                <a:pPr lvl="1"/>
                <a:r>
                  <a:rPr lang="en-US" dirty="0"/>
                  <a:t>Randomly sample a vertex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Choose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zh-SG" altLang="zh-SG" dirty="0"/>
                  <a:t>uniformly fro</a:t>
                </a:r>
                <a:r>
                  <a:rPr lang="en-US" altLang="zh-SG" dirty="0"/>
                  <a:t>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1,2,…</m:t>
                        </m:r>
                        <m:sSub>
                          <m:sSub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zh-SG" altLang="zh-SG" dirty="0"/>
                  <a:t>Query the</a:t>
                </a:r>
                <a:r>
                  <a:rPr lang="en-US" altLang="zh-SG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neighbor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else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b="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What’s the variance?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B345BE-E608-9C84-554C-FDD82E631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086" t="-2857" b="-10130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37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F920-5F24-1695-FCDD-97B23A64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Multiplicative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0D1A67-987A-EE8E-398E-A1023EA60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37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be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largest vertices in the order, </a:t>
                </a:r>
              </a:p>
              <a:p>
                <a:pPr lvl="1"/>
                <a:r>
                  <a:rPr lang="en-US" altLang="zh-SG" dirty="0"/>
                  <a:t>E</a:t>
                </a:r>
                <a:r>
                  <a:rPr lang="zh-SG" altLang="zh-SG" dirty="0"/>
                  <a:t>quivalently, the</a:t>
                </a:r>
                <a:r>
                  <a:rPr lang="en-US" altLang="zh-SG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b="0" dirty="0">
                    <a:solidFill>
                      <a:srgbClr val="00B050"/>
                    </a:solidFill>
                  </a:rPr>
                  <a:t> </a:t>
                </a:r>
                <a:r>
                  <a:rPr lang="en-US" b="0" dirty="0"/>
                  <a:t>highest-degree vertices.</a:t>
                </a:r>
              </a:p>
              <a:p>
                <a:pPr lvl="1"/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be the set of remaining vertices.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b="1" dirty="0">
                    <a:ea typeface="Cambria Math" panose="02040503050406030204" pitchFamily="18" charset="0"/>
                  </a:rPr>
                  <a:t>Lemma: </a:t>
                </a:r>
                <a:r>
                  <a:rPr lang="en-US" dirty="0">
                    <a:ea typeface="Cambria Math" panose="02040503050406030204" pitchFamily="18" charset="0"/>
                  </a:rPr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b="0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lvl="1"/>
                <a:r>
                  <a:rPr lang="en-US" b="0" dirty="0">
                    <a:ea typeface="Cambria Math" panose="02040503050406030204" pitchFamily="18" charset="0"/>
                  </a:rPr>
                  <a:t>Otherwise, every vertex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:r>
                  <a:rPr lang="zh-SG" altLang="zh-SG" dirty="0"/>
                  <a:t>would have degree greater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Contradiction.</a:t>
                </a:r>
              </a:p>
              <a:p>
                <a:pPr lvl="1"/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1" dirty="0"/>
                  <a:t>Lemma: </a:t>
                </a:r>
                <a:r>
                  <a:rPr lang="en-US" dirty="0"/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There are at most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dirty="0"/>
                  <a:t> vertices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0D1A67-987A-EE8E-398E-A1023EA60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3775"/>
              </a:xfrm>
              <a:blipFill>
                <a:blip r:embed="rId2"/>
                <a:stretch>
                  <a:fillRect l="-1086" t="-2375" b="-131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82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DF11-AB01-85D9-B6A2-FEA1C70A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Multiplicative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39E9B-425C-A21B-3AAC-DE9B485D4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049000" cy="48799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b="1" dirty="0">
                    <a:ea typeface="Cambria Math" panose="02040503050406030204" pitchFamily="18" charset="0"/>
                  </a:rPr>
                  <a:t>Lemma: </a:t>
                </a:r>
                <a:r>
                  <a:rPr lang="en-US" dirty="0">
                    <a:ea typeface="Cambria Math" panose="02040503050406030204" pitchFamily="18" charset="0"/>
                  </a:rPr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b="1" dirty="0"/>
                  <a:t>Lemma:</a:t>
                </a:r>
                <a:r>
                  <a:rPr lang="en-US" dirty="0"/>
                  <a:t> 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By </a:t>
                </a:r>
                <a:r>
                  <a:rPr lang="en-US" dirty="0">
                    <a:solidFill>
                      <a:srgbClr val="0070C0"/>
                    </a:solidFill>
                  </a:rPr>
                  <a:t>Chebyshev’s inequality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i</a:t>
                </a:r>
                <a:r>
                  <a:rPr lang="zh-SG" altLang="zh-SG" dirty="0"/>
                  <a:t>ndependent samples suffice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39E9B-425C-A21B-3AAC-DE9B485D4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049000" cy="4879975"/>
              </a:xfrm>
              <a:blipFill>
                <a:blip r:embed="rId2"/>
                <a:stretch>
                  <a:fillRect l="-918" t="-51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93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2C88B-EF96-4F82-F0FB-591F18F5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SG" altLang="zh-SG" dirty="0"/>
              <a:t>A Density-Sensitive Query Bound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122421-5C12-2425-523F-7B5A89D2A0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SG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den>
                        </m:f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In fact,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 samples suffice.</a:t>
                </a:r>
              </a:p>
              <a:p>
                <a:pPr lvl="1"/>
                <a:endParaRPr kumimoji="1" lang="en-US" altLang="zh-SG" dirty="0"/>
              </a:p>
              <a:p>
                <a:r>
                  <a:rPr kumimoji="1" lang="en-US" altLang="zh-SG" dirty="0"/>
                  <a:t>Can we claim a query complexity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?</a:t>
                </a:r>
              </a:p>
              <a:p>
                <a:pPr lvl="1"/>
                <a:r>
                  <a:rPr lang="zh-SG" altLang="zh-SG" dirty="0"/>
                  <a:t>How can we choose the sample size without knowing the scale of</a:t>
                </a:r>
                <a:r>
                  <a:rPr kumimoji="1" lang="en-US" altLang="zh-SG" dirty="0"/>
                  <a:t>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SG" dirty="0"/>
                  <a:t>?</a:t>
                </a:r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122421-5C12-2425-523F-7B5A89D2A0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68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A2C12-BC77-9C7C-A2DD-18ED2117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SG" altLang="zh-SG" dirty="0"/>
              <a:t>Guessing the Number of Edges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9AED28-48A8-E9AE-9026-5B360CB30F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6175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SG" dirty="0"/>
                  <a:t>Assume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&lt;1/4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r>
                  <a:rPr kumimoji="1" lang="en-US" altLang="zh-SG" dirty="0"/>
                  <a:t>Try the guesses </a:t>
                </a:r>
                <a14:m>
                  <m:oMath xmlns:m="http://schemas.openxmlformats.org/officeDocument/2006/math"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…1</m:t>
                    </m:r>
                  </m:oMath>
                </a14:m>
                <a:r>
                  <a:rPr kumimoji="1" lang="en-US" altLang="zh-SG" i="1" dirty="0"/>
                  <a:t>.</a:t>
                </a:r>
              </a:p>
              <a:p>
                <a:endParaRPr kumimoji="1" lang="en-US" altLang="zh-SG" i="1" dirty="0"/>
              </a:p>
              <a:p>
                <a:r>
                  <a:rPr kumimoji="1" lang="en-US" altLang="zh-SG" dirty="0"/>
                  <a:t>Suppose the true number of edges is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SG" dirty="0"/>
                  <a:t>, while our current guess is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SG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SG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zh-SG" dirty="0"/>
                  <a:t>,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 independent samples.</a:t>
                </a:r>
              </a:p>
              <a:p>
                <a:pPr lvl="1"/>
                <a:r>
                  <a:rPr kumimoji="1" lang="en-US" altLang="zh-SG" dirty="0"/>
                  <a:t>With constant probability, the additive error is at most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ad>
                      <m:rad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g>
                      <m:e>
                        <m:f>
                          <m:f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SG" dirty="0"/>
                  <a:t>, the resulting estimate is at most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sSup>
                      <m:sSup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&lt;1.5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SG" dirty="0"/>
                  <a:t>, the error is at most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kumimoji="1" lang="en-US" altLang="zh-SG" dirty="0"/>
                  <a:t>, </a:t>
                </a:r>
                <a:r>
                  <a:rPr lang="zh-SG" altLang="zh-SG" dirty="0"/>
                  <a:t>the resulting estimate </a:t>
                </a:r>
                <a:r>
                  <a:rPr kumimoji="1" lang="en-US" altLang="zh-SG" dirty="0"/>
                  <a:t>is at least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&gt;1.5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endParaRPr kumimoji="1" lang="en-US" altLang="zh-SG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9AED28-48A8-E9AE-9026-5B360CB30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6175"/>
              </a:xfrm>
              <a:blipFill>
                <a:blip r:embed="rId2"/>
                <a:stretch>
                  <a:fillRect l="-1086" t="-2046" r="-205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53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071A3-4E0A-7CF3-A573-AE643F42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SG" altLang="zh-SG" dirty="0"/>
              <a:t>Guessing the Number of Edges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F811E9-DDE0-7C18-CFDB-D8FA77E7EC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0400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kumimoji="1" lang="en-US" altLang="zh-SG" dirty="0"/>
                  <a:t>Algorithm: Run the algorithm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kumimoji="1" lang="en-US" altLang="zh-SG" dirty="0"/>
                  <a:t>, stop when the estimate exceeds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Total query complexity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rad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/4</m:t>
                                </m:r>
                              </m:e>
                            </m:rad>
                          </m:den>
                        </m:f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SG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lang="zh-SG" altLang="zh-SG" dirty="0"/>
                  <a:t>How do we ensure a high overall success probability?</a:t>
                </a:r>
                <a:endParaRPr lang="en-US" altLang="zh-SG" dirty="0"/>
              </a:p>
              <a:p>
                <a:pPr lvl="1"/>
                <a:endParaRPr kumimoji="1" lang="en-US" altLang="zh-SG" dirty="0"/>
              </a:p>
              <a:p>
                <a:pPr>
                  <a:lnSpc>
                    <a:spcPct val="120000"/>
                  </a:lnSpc>
                </a:pPr>
                <a:r>
                  <a:rPr kumimoji="1" lang="en-US" altLang="zh-SG" dirty="0"/>
                  <a:t>For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en-US" altLang="zh-SG" dirty="0"/>
                  <a:t>, use the median trick to boost the success probability to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SG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altLang="zh-SG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SG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p>
                                    <m: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:</a:t>
                </a:r>
              </a:p>
              <a:p>
                <a:pPr lvl="1"/>
                <a:r>
                  <a:rPr kumimoji="1" lang="en-US" altLang="zh-SG" dirty="0"/>
                  <a:t>By the </a:t>
                </a:r>
                <a:r>
                  <a:rPr kumimoji="1" lang="en-US" altLang="zh-SG" dirty="0">
                    <a:solidFill>
                      <a:srgbClr val="0070C0"/>
                    </a:solidFill>
                  </a:rPr>
                  <a:t>union bound</a:t>
                </a:r>
                <a:r>
                  <a:rPr kumimoji="1" lang="en-US" altLang="zh-SG" dirty="0"/>
                  <a:t>, </a:t>
                </a:r>
                <a:r>
                  <a:rPr lang="zh-SG" altLang="zh-SG" dirty="0"/>
                  <a:t>the overall success probability is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SG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SG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SG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Query complexity for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en-US" altLang="zh-SG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altLang="zh-SG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SG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SG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zh-SG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r>
                  <a:rPr kumimoji="1" lang="en-US" altLang="zh-SG" dirty="0"/>
                  <a:t>Total query complexity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SG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altLang="zh-SG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SG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SG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SG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SG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  <m:r>
                              <a:rPr lang="en-US" altLang="zh-SG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kumimoji="1" lang="en-US" altLang="zh-SG" dirty="0"/>
                  <a:t>.</a:t>
                </a:r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F811E9-DDE0-7C18-CFDB-D8FA77E7E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0400" cy="4351338"/>
              </a:xfrm>
              <a:blipFill>
                <a:blip r:embed="rId2"/>
                <a:stretch>
                  <a:fillRect l="-821" t="-291" r="-234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97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B31F8-60B2-670E-F3D8-CF76DA6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dirty="0"/>
              <a:t>Take-Home Exercise: </a:t>
            </a:r>
            <a:br>
              <a:rPr kumimoji="1" lang="en-US" altLang="zh-SG" dirty="0"/>
            </a:br>
            <a:r>
              <a:rPr kumimoji="1" lang="en-US" altLang="zh-SG" dirty="0"/>
              <a:t>Number of Connected Components</a:t>
            </a:r>
            <a:endParaRPr kumimoji="1"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8A813D-CD36-C576-9BB6-8BED18EC4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9448800" cy="480377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SG" b="1" dirty="0"/>
                  <a:t>Adjacency-matrix query: </a:t>
                </a:r>
                <a:r>
                  <a:rPr lang="zh-SG" altLang="zh-SG" dirty="0"/>
                  <a:t>Given two vertices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SG" altLang="zh-SG" dirty="0"/>
                  <a:t> and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SG" altLang="zh-SG" dirty="0"/>
                  <a:t>, return whether they are adjacent.</a:t>
                </a:r>
                <a:endParaRPr lang="en-US" altLang="zh-SG" dirty="0"/>
              </a:p>
              <a:p>
                <a:endParaRPr lang="en-US" altLang="zh-SG" dirty="0"/>
              </a:p>
              <a:p>
                <a:pPr>
                  <a:lnSpc>
                    <a:spcPct val="120000"/>
                  </a:lnSpc>
                </a:pPr>
                <a:r>
                  <a:rPr lang="en-US" altLang="zh-SG" b="1" dirty="0"/>
                  <a:t>Input: </a:t>
                </a:r>
                <a:r>
                  <a:rPr lang="en-US" altLang="zh-SG" dirty="0"/>
                  <a:t>a graph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SG" dirty="0"/>
                  <a:t> such that each connected component contains at most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altLang="zh-SG" dirty="0"/>
                  <a:t> vertices.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SG" b="1" dirty="0"/>
                  <a:t>Output:</a:t>
                </a:r>
                <a:r>
                  <a:rPr lang="en-US" altLang="zh-SG" dirty="0"/>
                  <a:t> an estimate of the number of connected components with additive error at most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SG" dirty="0"/>
                  <a:t>.</a:t>
                </a:r>
              </a:p>
              <a:p>
                <a:endParaRPr lang="en-US" altLang="zh-SG" dirty="0"/>
              </a:p>
              <a:p>
                <a:r>
                  <a:rPr lang="en-US" altLang="zh-SG" dirty="0"/>
                  <a:t>Design a query algorithm that makes </a:t>
                </a:r>
                <a14:m>
                  <m:oMath xmlns:m="http://schemas.openxmlformats.org/officeDocument/2006/math"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SG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SG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SG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SG" dirty="0"/>
                  <a:t> queries.</a:t>
                </a:r>
              </a:p>
              <a:p>
                <a:r>
                  <a:rPr lang="en-US" altLang="zh-SG" dirty="0"/>
                  <a:t>Can we design an algorithm </a:t>
                </a:r>
                <a:r>
                  <a:rPr lang="zh-SG" altLang="zh-SG" dirty="0"/>
                  <a:t>without the bounded-component-size assumption?</a:t>
                </a:r>
                <a:endParaRPr lang="en-US" altLang="zh-SG" dirty="0"/>
              </a:p>
              <a:p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8A813D-CD36-C576-9BB6-8BED18EC4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9448800" cy="4803775"/>
              </a:xfrm>
              <a:blipFill>
                <a:blip r:embed="rId2"/>
                <a:stretch>
                  <a:fillRect l="-1074" t="-1055" r="-1208" b="-2902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031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False"/>
  <p:tag name="EMBEDFONTS" val="False"/>
  <p:tag name="USEBOLDAMS" val="False"/>
  <p:tag name="DEFAULTDISPLAYSOURCE" val="\documentclass{slides}\pagestyle{empty}&#10;\input{macros}&#10;\begin{document}&#10;$ $&#10;\end{document}&#10;"/>
  <p:tag name="TEX2PS" val="latex %.tex; dvips -D 300 -o %.ps %.dvi"/>
  <p:tag name="TEX2PSBATCH" val="latex --interaction=nonstopmode %.tex; dvips -D 300 -o %.ps %.dvi"/>
  <p:tag name="DEFAULTMAGNIFICATION" val="1.5"/>
</p:tagLst>
</file>

<file path=ppt/theme/theme1.xml><?xml version="1.0" encoding="utf-8"?>
<a:theme xmlns:a="http://schemas.openxmlformats.org/drawingml/2006/main" name="6.046 Lecture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78054</TotalTime>
  <Words>1889</Words>
  <Application>Microsoft Macintosh PowerPoint</Application>
  <PresentationFormat>Widescreen</PresentationFormat>
  <Paragraphs>255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Times New Roman</vt:lpstr>
      <vt:lpstr>6.046 Lectures</vt:lpstr>
      <vt:lpstr>Query Algorithm</vt:lpstr>
      <vt:lpstr>Query Algorithm</vt:lpstr>
      <vt:lpstr>Query Algorithm</vt:lpstr>
      <vt:lpstr>Example: Counting</vt:lpstr>
      <vt:lpstr>Example: Counting</vt:lpstr>
      <vt:lpstr>Analysis</vt:lpstr>
      <vt:lpstr>Chernoff Bound</vt:lpstr>
      <vt:lpstr>Analyzing Sampling Algorithms</vt:lpstr>
      <vt:lpstr>Median Approximation</vt:lpstr>
      <vt:lpstr>Analysis</vt:lpstr>
      <vt:lpstr>Analysis</vt:lpstr>
      <vt:lpstr>Mean Trick</vt:lpstr>
      <vt:lpstr>Median Trick</vt:lpstr>
      <vt:lpstr>Median Trick</vt:lpstr>
      <vt:lpstr>Exercise</vt:lpstr>
      <vt:lpstr>Query Algorithm for Graphs </vt:lpstr>
      <vt:lpstr>Number of Edges</vt:lpstr>
      <vt:lpstr>Additive Error</vt:lpstr>
      <vt:lpstr>Multiplicative Error</vt:lpstr>
      <vt:lpstr>Multiplicative Error</vt:lpstr>
      <vt:lpstr>Multiplicative Error</vt:lpstr>
      <vt:lpstr>Multiplicative Error</vt:lpstr>
      <vt:lpstr>Multiplicative Error</vt:lpstr>
      <vt:lpstr>Multiplicative Error</vt:lpstr>
      <vt:lpstr>A Density-Sensitive Query Bound</vt:lpstr>
      <vt:lpstr>Guessing the Number of Edges</vt:lpstr>
      <vt:lpstr>Guessing the Number of Edges</vt:lpstr>
      <vt:lpstr>Take-Home Exercise:  Number of Connected Components</vt:lpstr>
    </vt:vector>
  </TitlesOfParts>
  <Company>MIT Department of Electrical Engineering and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Amortized analysis</dc:title>
  <dc:subject>Introduction to Algorithms</dc:subject>
  <dc:creator>Charles E. Leiserson</dc:creator>
  <cp:lastModifiedBy>Chen Yu</cp:lastModifiedBy>
  <cp:revision>1004</cp:revision>
  <dcterms:created xsi:type="dcterms:W3CDTF">2001-09-03T00:33:29Z</dcterms:created>
  <dcterms:modified xsi:type="dcterms:W3CDTF">2026-08-20T07:38:31Z</dcterms:modified>
</cp:coreProperties>
</file>